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6858000" cx="12192000"/>
  <p:notesSz cx="6858000" cy="9144000"/>
  <p:embeddedFontLst>
    <p:embeddedFont>
      <p:font typeface="DM Sans"/>
      <p:regular r:id="rId7"/>
      <p:bold r:id="rId8"/>
      <p:italic r:id="rId9"/>
      <p:boldItalic r:id="rId1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0" Type="http://schemas.openxmlformats.org/officeDocument/2006/relationships/font" Target="fonts/DMSans-boldItalic.fntdata"/><Relationship Id="rId9" Type="http://schemas.openxmlformats.org/officeDocument/2006/relationships/font" Target="fonts/DMSans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font" Target="fonts/DMSans-regular.fntdata"/><Relationship Id="rId8" Type="http://schemas.openxmlformats.org/officeDocument/2006/relationships/font" Target="fonts/DMSans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18090" y="0"/>
            <a:ext cx="1914525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/>
          <p:nvPr/>
        </p:nvSpPr>
        <p:spPr>
          <a:xfrm>
            <a:off x="0" y="0"/>
            <a:ext cx="781809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3"/>
          <p:cNvSpPr/>
          <p:nvPr/>
        </p:nvSpPr>
        <p:spPr>
          <a:xfrm>
            <a:off x="7779990" y="0"/>
            <a:ext cx="38100" cy="685800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3"/>
          <p:cNvSpPr/>
          <p:nvPr/>
        </p:nvSpPr>
        <p:spPr>
          <a:xfrm>
            <a:off x="609600" y="4795837"/>
            <a:ext cx="6560790" cy="762000"/>
          </a:xfrm>
          <a:prstGeom prst="roundRect">
            <a:avLst>
              <a:gd fmla="val 10000" name="adj"/>
            </a:avLst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3"/>
          <p:cNvSpPr/>
          <p:nvPr/>
        </p:nvSpPr>
        <p:spPr>
          <a:xfrm>
            <a:off x="609600" y="3852862"/>
            <a:ext cx="2034480" cy="638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3"/>
          <p:cNvSpPr/>
          <p:nvPr/>
        </p:nvSpPr>
        <p:spPr>
          <a:xfrm>
            <a:off x="2872680" y="3852862"/>
            <a:ext cx="2034480" cy="638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3"/>
          <p:cNvSpPr/>
          <p:nvPr/>
        </p:nvSpPr>
        <p:spPr>
          <a:xfrm>
            <a:off x="5135760" y="3852862"/>
            <a:ext cx="2034480" cy="638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3"/>
          <p:cNvSpPr/>
          <p:nvPr/>
        </p:nvSpPr>
        <p:spPr>
          <a:xfrm>
            <a:off x="609600" y="3852862"/>
            <a:ext cx="19050" cy="6381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3"/>
          <p:cNvSpPr/>
          <p:nvPr/>
        </p:nvSpPr>
        <p:spPr>
          <a:xfrm>
            <a:off x="2872680" y="3852862"/>
            <a:ext cx="19050" cy="6381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3"/>
          <p:cNvSpPr/>
          <p:nvPr/>
        </p:nvSpPr>
        <p:spPr>
          <a:xfrm>
            <a:off x="5135760" y="3852862"/>
            <a:ext cx="19050" cy="6381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94" name="Google Shape;94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4976812"/>
            <a:ext cx="17145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3"/>
          <p:cNvSpPr txBox="1"/>
          <p:nvPr/>
        </p:nvSpPr>
        <p:spPr>
          <a:xfrm>
            <a:off x="609600" y="1300162"/>
            <a:ext cx="8200987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B45309"/>
                </a:solidFill>
                <a:latin typeface="DM Sans"/>
                <a:ea typeface="DM Sans"/>
                <a:cs typeface="DM Sans"/>
                <a:sym typeface="DM Sans"/>
              </a:rPr>
              <a:t>INTRODUCTION &amp; CONTEXT</a:t>
            </a:r>
            <a:endParaRPr/>
          </a:p>
        </p:txBody>
      </p:sp>
      <p:sp>
        <p:nvSpPr>
          <p:cNvPr id="96" name="Google Shape;96;p13"/>
          <p:cNvSpPr txBox="1"/>
          <p:nvPr/>
        </p:nvSpPr>
        <p:spPr>
          <a:xfrm>
            <a:off x="609600" y="1624012"/>
            <a:ext cx="6988842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F172A"/>
                </a:solidFill>
                <a:latin typeface="DM Sans"/>
                <a:ea typeface="DM Sans"/>
                <a:cs typeface="DM Sans"/>
                <a:sym typeface="DM Sans"/>
              </a:rPr>
              <a:t>Luxury at Scale Requires Flawless Data</a:t>
            </a:r>
            <a:endParaRPr/>
          </a:p>
        </p:txBody>
      </p:sp>
      <p:sp>
        <p:nvSpPr>
          <p:cNvPr id="97" name="Google Shape;97;p13"/>
          <p:cNvSpPr txBox="1"/>
          <p:nvPr/>
        </p:nvSpPr>
        <p:spPr>
          <a:xfrm>
            <a:off x="609600" y="2690812"/>
            <a:ext cx="665604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Shangri-La Colombo operates at the pinnacle of hospitality. Managing premium guest experiences, dynamic room inventory, and secure financial transactions demands a robust backend architecture.</a:t>
            </a:r>
            <a:endParaRPr/>
          </a:p>
        </p:txBody>
      </p:sp>
      <p:sp>
        <p:nvSpPr>
          <p:cNvPr id="98" name="Google Shape;98;p13"/>
          <p:cNvSpPr txBox="1"/>
          <p:nvPr/>
        </p:nvSpPr>
        <p:spPr>
          <a:xfrm>
            <a:off x="762000" y="4948237"/>
            <a:ext cx="6351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DM Sans"/>
                <a:ea typeface="DM Sans"/>
                <a:cs typeface="DM Sans"/>
                <a:sym typeface="DM Sans"/>
              </a:rPr>
              <a:t>Our Mandate:</a:t>
            </a:r>
            <a:r>
              <a:rPr b="0" i="0" lang="en-US" sz="1350" u="none" cap="none" strike="noStrike">
                <a:solidFill>
                  <a:srgbClr val="0F172A"/>
                </a:solidFill>
                <a:latin typeface="DM Sans"/>
                <a:ea typeface="DM Sans"/>
                <a:cs typeface="DM Sans"/>
                <a:sym typeface="DM Sans"/>
              </a:rPr>
              <a:t> Engineer a centralized, normalized relational database to unify these core operations.</a:t>
            </a:r>
            <a:endParaRPr/>
          </a:p>
        </p:txBody>
      </p:sp>
      <p:sp>
        <p:nvSpPr>
          <p:cNvPr id="99" name="Google Shape;99;p13"/>
          <p:cNvSpPr txBox="1"/>
          <p:nvPr/>
        </p:nvSpPr>
        <p:spPr>
          <a:xfrm>
            <a:off x="781050" y="3852862"/>
            <a:ext cx="2445227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B45309"/>
                </a:solidFill>
                <a:latin typeface="DM Sans"/>
                <a:ea typeface="DM Sans"/>
                <a:cs typeface="DM Sans"/>
                <a:sym typeface="DM Sans"/>
              </a:rPr>
              <a:t>500+</a:t>
            </a:r>
            <a:endParaRPr/>
          </a:p>
        </p:txBody>
      </p:sp>
      <p:sp>
        <p:nvSpPr>
          <p:cNvPr id="100" name="Google Shape;100;p13"/>
          <p:cNvSpPr txBox="1"/>
          <p:nvPr/>
        </p:nvSpPr>
        <p:spPr>
          <a:xfrm>
            <a:off x="781050" y="4291012"/>
            <a:ext cx="2328788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DM Sans"/>
                <a:ea typeface="DM Sans"/>
                <a:cs typeface="DM Sans"/>
                <a:sym typeface="DM Sans"/>
              </a:rPr>
              <a:t>Rooms &amp; Suites</a:t>
            </a:r>
            <a:endParaRPr/>
          </a:p>
        </p:txBody>
      </p:sp>
      <p:sp>
        <p:nvSpPr>
          <p:cNvPr id="101" name="Google Shape;101;p13"/>
          <p:cNvSpPr txBox="1"/>
          <p:nvPr/>
        </p:nvSpPr>
        <p:spPr>
          <a:xfrm>
            <a:off x="3044130" y="3852862"/>
            <a:ext cx="2445227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B45309"/>
                </a:solidFill>
                <a:latin typeface="DM Sans"/>
                <a:ea typeface="DM Sans"/>
                <a:cs typeface="DM Sans"/>
                <a:sym typeface="DM Sans"/>
              </a:rPr>
              <a:t>24/7</a:t>
            </a:r>
            <a:endParaRPr/>
          </a:p>
        </p:txBody>
      </p:sp>
      <p:sp>
        <p:nvSpPr>
          <p:cNvPr id="102" name="Google Shape;102;p13"/>
          <p:cNvSpPr txBox="1"/>
          <p:nvPr/>
        </p:nvSpPr>
        <p:spPr>
          <a:xfrm>
            <a:off x="3044130" y="4291012"/>
            <a:ext cx="2328788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DM Sans"/>
                <a:ea typeface="DM Sans"/>
                <a:cs typeface="DM Sans"/>
                <a:sym typeface="DM Sans"/>
              </a:rPr>
              <a:t>Operation Demand</a:t>
            </a:r>
            <a:endParaRPr/>
          </a:p>
        </p:txBody>
      </p:sp>
      <p:sp>
        <p:nvSpPr>
          <p:cNvPr id="103" name="Google Shape;103;p13"/>
          <p:cNvSpPr txBox="1"/>
          <p:nvPr/>
        </p:nvSpPr>
        <p:spPr>
          <a:xfrm>
            <a:off x="5307210" y="3852862"/>
            <a:ext cx="2445227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B45309"/>
                </a:solidFill>
                <a:latin typeface="DM Sans"/>
                <a:ea typeface="DM Sans"/>
                <a:cs typeface="DM Sans"/>
                <a:sym typeface="DM Sans"/>
              </a:rPr>
              <a:t>Zero</a:t>
            </a:r>
            <a:endParaRPr/>
          </a:p>
        </p:txBody>
      </p:sp>
      <p:sp>
        <p:nvSpPr>
          <p:cNvPr id="104" name="Google Shape;104;p13"/>
          <p:cNvSpPr txBox="1"/>
          <p:nvPr/>
        </p:nvSpPr>
        <p:spPr>
          <a:xfrm>
            <a:off x="5307210" y="4291012"/>
            <a:ext cx="2328788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DM Sans"/>
                <a:ea typeface="DM Sans"/>
                <a:cs typeface="DM Sans"/>
                <a:sym typeface="DM Sans"/>
              </a:rPr>
              <a:t>Margin for Error</a:t>
            </a:r>
            <a:endParaRPr/>
          </a:p>
        </p:txBody>
      </p:sp>
      <p:pic>
        <p:nvPicPr>
          <p:cNvPr descr="image.png" id="105" name="Google Shape;105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818100" y="0"/>
            <a:ext cx="4373901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